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7" r:id="rId5"/>
    <p:sldId id="347" r:id="rId6"/>
    <p:sldId id="348" r:id="rId7"/>
    <p:sldId id="365" r:id="rId8"/>
    <p:sldId id="346" r:id="rId9"/>
    <p:sldId id="264" r:id="rId10"/>
    <p:sldId id="272" r:id="rId11"/>
    <p:sldId id="368" r:id="rId12"/>
    <p:sldId id="366" r:id="rId13"/>
    <p:sldId id="367" r:id="rId14"/>
    <p:sldId id="266" r:id="rId15"/>
    <p:sldId id="274" r:id="rId16"/>
    <p:sldId id="270" r:id="rId17"/>
    <p:sldId id="360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516E16-99E2-3E72-872A-9823BCE9A0ED}" name="Paula Branco" initials="PB" userId="S::pbranco@uottawa.ca::13440f69-af6d-4e10-bc05-e270bd0ef250" providerId="AD"/>
  <p188:author id="{4C5FF23F-16DD-AFEC-DD7C-DF2E99036F41}" name="Bill Aiken" initials="BA" userId="S::waike081@uottawa.ca::0a804150-98e3-4fac-a7e1-cd3ddc34cb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39FA7"/>
    <a:srgbClr val="A21522"/>
    <a:srgbClr val="C8C1BC"/>
    <a:srgbClr val="404040"/>
    <a:srgbClr val="A21321"/>
    <a:srgbClr val="0000FF"/>
    <a:srgbClr val="FF0000"/>
    <a:srgbClr val="00FF00"/>
    <a:srgbClr val="3B3734"/>
    <a:srgbClr val="F38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06F39-053B-6DAB-829F-F3A78451BF14}" v="1780" dt="2026-04-01T22:25:47.503"/>
    <p1510:client id="{3E100F55-2881-4B65-918E-92A5DED7BE40}" v="8" dt="2026-04-01T22:26:42.758"/>
    <p1510:client id="{C474A70D-8C09-E64F-8DD3-BA5A55428A74}" v="1517" dt="2026-04-01T19:21:35.6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1BB15-DE40-F842-8059-510BF077C15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442AD-E810-5C4F-BBB9-F00611DA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21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0BA96726-B0E5-5C4D-84CE-D535101983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910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68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F67A3-E92E-EEA4-A92D-90025C4D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06E02-120B-0553-1DA1-15BF102C9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EFEC1-6DB4-10D8-0830-3B3AEF710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Fundamental Question: Can one..</a:t>
            </a:r>
          </a:p>
          <a:p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Paper argues that right now: 1-2</a:t>
            </a:r>
          </a:p>
          <a:p>
            <a:pPr marL="171450" indent="-171450">
              <a:buFontTx/>
              <a:buChar char="-"/>
            </a:pPr>
            <a:r>
              <a:rPr lang="en-US"/>
              <a:t>But: 3</a:t>
            </a:r>
          </a:p>
          <a:p>
            <a:pPr marL="0" indent="0">
              <a:buFontTx/>
              <a:buNone/>
            </a:pPr>
            <a:r>
              <a:rPr lang="en-US"/>
              <a:t>-  Their inspiration: 4 </a:t>
            </a:r>
            <a:r>
              <a:rPr lang="en-CA"/>
              <a:t>large-scale pretraining first, followed by lighter online RL improvement.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EE740-FD32-2B4B-1615-921BA3D11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93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77468-C1F9-5FA5-6451-85879DA7B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D8026-368D-FF2E-1986-FA617AF81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83B3B-97D7-E05F-A38F-E7DEA1B8C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understand the problem setting we define….</a:t>
            </a:r>
          </a:p>
          <a:p>
            <a:pPr marL="171450" indent="-171450">
              <a:buFontTx/>
              <a:buChar char="-"/>
            </a:pPr>
            <a:r>
              <a:rPr lang="en-US"/>
              <a:t>Mass multi…</a:t>
            </a:r>
          </a:p>
          <a:p>
            <a:pPr marL="0" indent="0">
              <a:buFontTx/>
              <a:buNone/>
            </a:pPr>
            <a:r>
              <a:rPr lang="en-CA"/>
              <a:t>This is already hard, but two additional ingredients matter a lot.</a:t>
            </a:r>
          </a:p>
          <a:p>
            <a:pPr marL="0" indent="0">
              <a:buFontTx/>
              <a:buNone/>
            </a:pPr>
            <a:r>
              <a:rPr lang="en-CA"/>
              <a:t>- Language ins vs tasks id</a:t>
            </a:r>
          </a:p>
          <a:p>
            <a:pPr marL="0" indent="0">
              <a:buFontTx/>
              <a:buNone/>
            </a:pPr>
            <a:r>
              <a:rPr lang="en-CA"/>
              <a:t>- Demos: </a:t>
            </a:r>
            <a:r>
              <a:rPr lang="en-CA" err="1"/>
              <a:t>Importat</a:t>
            </a:r>
            <a:r>
              <a:rPr lang="en-CA"/>
              <a:t> for large, diverse tasks</a:t>
            </a:r>
          </a:p>
          <a:p>
            <a:pPr marL="0" indent="0">
              <a:buFontTx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722F6-86EF-BC52-D51C-C4927EFD9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38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F22B-47B4-58CD-FE9A-E5A13FF22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A5C2D-C9D1-1312-6E7C-F1943FFE3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0936F-05AB-1C5D-E14E-CF01AC656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big picture of this paper is …</a:t>
            </a:r>
          </a:p>
          <a:p>
            <a:endParaRPr lang="en-US"/>
          </a:p>
          <a:p>
            <a:r>
              <a:rPr lang="en-US"/>
              <a:t>- Not only a new agent but a new way to study generalis RL in continuous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2DA66-5A33-79B6-5E9E-5A534354B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34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E03D-671B-0EA3-89EE-AB676474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6A87A-7DD4-323C-0506-53B4F3ED8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73BA8B-FCD7-E56C-1372-F67B2DC0C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big picture of this paper is …</a:t>
            </a:r>
          </a:p>
          <a:p>
            <a:endParaRPr lang="en-US"/>
          </a:p>
          <a:p>
            <a:r>
              <a:rPr lang="en-US"/>
              <a:t>- Not only a new agent but a new way to study generalis RL in continuous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B9574-FEB6-74B0-44F9-AC909EB40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60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CC918-3A48-E511-526F-0B7A9067C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FAD46-3DBF-83BD-EE2E-FF7940EF0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3A423-8DBC-41D8-9411-23AF86DF4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B429E-3D4B-AA03-1981-1D238A3903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05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D016A-F8EC-F87D-550B-FB33D76BC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8E299-D8C6-6880-8A81-1FD2A7923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170B7-355A-D20F-A45B-6EC362E6E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F3DA6-AF87-E040-0A6F-192A98E4F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80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4D90B-C331-FD57-04E2-C222E1D16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863F8-B722-7D36-50DC-A0F39FC46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B153B-E3EC-B3BC-8AC6-C15CD9EF5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1419C-F7D5-BDEE-44E6-AB4637625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99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77B0D-13F7-C49E-329F-B03F5B5DB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33B1-1074-2400-31E8-5088D3813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7EF46-220E-C6FD-5034-AF155A012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A4572-AD84-EC4F-18FE-4D2033000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40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59594-45DE-72AE-E6EA-768E5FAF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E8237-CF42-ED73-A391-D29517EFC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2FB63-4810-ECEE-9193-942C8BFEE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005D7-E840-70E9-36D6-CB95944AD0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92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5" name="Picture 4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6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7" name="Picture 6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0336BB-3A3D-0E7C-D2AC-70FBA122EBFE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525191957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12750" y="692696"/>
            <a:ext cx="7774632" cy="864096"/>
          </a:xfrm>
        </p:spPr>
        <p:txBody>
          <a:bodyPr/>
          <a:lstStyle/>
          <a:p>
            <a:r>
              <a:rPr lang="es-MX" b="1"/>
              <a:t>Haz clic para modificar el estilo de título del patrón</a:t>
            </a:r>
            <a:endParaRPr lang="en-US" b="1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7772400" cy="375354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 bwMode="auto">
          <a:xfrm>
            <a:off x="-6643" y="5768214"/>
            <a:ext cx="9150643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14" name="Picture 13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pic>
        <p:nvPicPr>
          <p:cNvPr id="16" name="Picture 15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E47AB8-FF3F-A065-B38E-AB3A51C53E9B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036645213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28111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78092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6" name="Picture 5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7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8" name="Picture 7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809631-2BB7-F894-3D8D-3BAF6694DF13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413731481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3886200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3886200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7" name="Picture 6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8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9" name="Picture 8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1264E0-C215-3E11-0D1C-A1477BAE4CB2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1805733531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9" name="Picture 8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10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11" name="Picture 10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9A9F3A-5795-64B4-4334-B2D979C039A5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972345153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5" name="Picture 4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6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7" name="Picture 6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8BE7C6-E177-DD35-9E47-2C154EA6F6EC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2290011457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4" name="Picture 3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5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6" name="Picture 5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84FFF7-36D6-DA70-D18E-F3D4629A90F6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493743260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404664"/>
            <a:ext cx="5111750" cy="5853113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72816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7" name="Picture 6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8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9" name="Picture 8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9098F4-FC93-790A-4B9C-28BAA5686296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674238396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302422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5363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MX" noProof="0"/>
              <a:t>Haz clic en el icono para agregar una imagen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869160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7" name="Picture 6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8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9" name="Picture 8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8F763B-0B61-6E72-C9F7-F2E30137543C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502005904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6" name="Picture 5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7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8" name="Picture 7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4891D6-20AF-0CFB-1092-2634017846BC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44392454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943100" cy="502920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5676900" cy="5029200"/>
          </a:xfrm>
        </p:spPr>
        <p:txBody>
          <a:bodyPr vert="eaVer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6" name="Picture 5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7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8" name="Picture 7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D69F67-842D-5729-8C93-8D1D944D8744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1348269814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398408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655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CA"/>
              <a:t>Click to </a:t>
            </a:r>
            <a:r>
              <a:rPr lang="fr-CA" err="1"/>
              <a:t>add</a:t>
            </a:r>
            <a:r>
              <a:rPr lang="fr-CA"/>
              <a:t> </a:t>
            </a:r>
            <a:r>
              <a:rPr lang="fr-CA" err="1"/>
              <a:t>title</a:t>
            </a:r>
            <a:r>
              <a:rPr lang="fr-CA"/>
              <a:t> </a:t>
            </a:r>
            <a:r>
              <a:rPr lang="fr-CA" err="1"/>
              <a:t>here</a:t>
            </a:r>
            <a:endParaRPr 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/>
              <a:t>Click to </a:t>
            </a:r>
            <a:r>
              <a:rPr lang="fr-CA" err="1"/>
              <a:t>add</a:t>
            </a:r>
            <a:r>
              <a:rPr lang="fr-CA"/>
              <a:t> content </a:t>
            </a:r>
            <a:r>
              <a:rPr lang="fr-CA" err="1"/>
              <a:t>here</a:t>
            </a:r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+mn-lt"/>
          <a:ea typeface="ＭＳ Ｐゴシック" charset="0"/>
          <a:cs typeface="Verdana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Verdana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Verdana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Verdana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Verdana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Arial Black" pitchFamily="-110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Arial Black" pitchFamily="-110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Arial Black" pitchFamily="-110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Arial Black" pitchFamily="-110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  <a:cs typeface="Verdana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/>
          <a:ea typeface="ＭＳ Ｐゴシック" pitchFamily="-110" charset="-128"/>
          <a:cs typeface="Verdan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Verdana"/>
          <a:ea typeface="ＭＳ Ｐゴシック" pitchFamily="-110" charset="-128"/>
          <a:cs typeface="Verdan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/>
          <a:ea typeface="ＭＳ Ｐゴシック" pitchFamily="-110" charset="-128"/>
          <a:cs typeface="Verdan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/>
          <a:ea typeface="ＭＳ Ｐゴシック" pitchFamily="-110" charset="-128"/>
          <a:cs typeface="Verdan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elogramo 2">
            <a:extLst>
              <a:ext uri="{FF2B5EF4-FFF2-40B4-BE49-F238E27FC236}">
                <a16:creationId xmlns:a16="http://schemas.microsoft.com/office/drawing/2014/main" id="{518D322C-6A2B-72B0-4113-9A82A09FB1A7}"/>
              </a:ext>
            </a:extLst>
          </p:cNvPr>
          <p:cNvSpPr/>
          <p:nvPr/>
        </p:nvSpPr>
        <p:spPr bwMode="auto">
          <a:xfrm>
            <a:off x="-1396339" y="1360333"/>
            <a:ext cx="9381744" cy="2341858"/>
          </a:xfrm>
          <a:prstGeom prst="parallelogram">
            <a:avLst/>
          </a:prstGeom>
          <a:solidFill>
            <a:srgbClr val="C8C1BC"/>
          </a:solidFill>
          <a:ln w="9525" cap="flat" cmpd="sng" algn="ctr">
            <a:solidFill>
              <a:srgbClr val="C8C1B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4" name="Paralelogramo 3">
            <a:extLst>
              <a:ext uri="{FF2B5EF4-FFF2-40B4-BE49-F238E27FC236}">
                <a16:creationId xmlns:a16="http://schemas.microsoft.com/office/drawing/2014/main" id="{C8F3BB2B-8AFE-45E3-7B9C-805D4FABDE2A}"/>
              </a:ext>
            </a:extLst>
          </p:cNvPr>
          <p:cNvSpPr/>
          <p:nvPr/>
        </p:nvSpPr>
        <p:spPr bwMode="auto">
          <a:xfrm>
            <a:off x="-2034240" y="4070554"/>
            <a:ext cx="9381744" cy="1217512"/>
          </a:xfrm>
          <a:prstGeom prst="parallelogram">
            <a:avLst/>
          </a:prstGeom>
          <a:solidFill>
            <a:srgbClr val="C8C1BC"/>
          </a:solidFill>
          <a:ln w="9525" cap="flat" cmpd="sng" algn="ctr">
            <a:solidFill>
              <a:srgbClr val="C8C1B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5" name="Paralelogramo 4">
            <a:extLst>
              <a:ext uri="{FF2B5EF4-FFF2-40B4-BE49-F238E27FC236}">
                <a16:creationId xmlns:a16="http://schemas.microsoft.com/office/drawing/2014/main" id="{A936D515-0F31-468E-84D1-778A90259B82}"/>
              </a:ext>
            </a:extLst>
          </p:cNvPr>
          <p:cNvSpPr/>
          <p:nvPr/>
        </p:nvSpPr>
        <p:spPr bwMode="auto">
          <a:xfrm>
            <a:off x="7101883" y="4077324"/>
            <a:ext cx="491242" cy="1217512"/>
          </a:xfrm>
          <a:prstGeom prst="parallelogram">
            <a:avLst>
              <a:gd name="adj" fmla="val 66333"/>
            </a:avLst>
          </a:prstGeom>
          <a:solidFill>
            <a:srgbClr val="A21321"/>
          </a:solidFill>
          <a:ln w="9525" cap="flat" cmpd="sng" algn="ctr">
            <a:solidFill>
              <a:srgbClr val="A213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15AAEC0E-06CF-E5DA-B060-2A1E955C3C05}"/>
              </a:ext>
            </a:extLst>
          </p:cNvPr>
          <p:cNvSpPr/>
          <p:nvPr/>
        </p:nvSpPr>
        <p:spPr bwMode="auto">
          <a:xfrm>
            <a:off x="7501030" y="1360333"/>
            <a:ext cx="804158" cy="2341858"/>
          </a:xfrm>
          <a:prstGeom prst="parallelogram">
            <a:avLst>
              <a:gd name="adj" fmla="val 73629"/>
            </a:avLst>
          </a:prstGeom>
          <a:solidFill>
            <a:srgbClr val="A21321"/>
          </a:solidFill>
          <a:ln w="9525" cap="flat" cmpd="sng" algn="ctr">
            <a:solidFill>
              <a:srgbClr val="A213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C665CED-9D12-E05D-DA50-E3A4C3DB2CBF}"/>
              </a:ext>
            </a:extLst>
          </p:cNvPr>
          <p:cNvSpPr txBox="1">
            <a:spLocks/>
          </p:cNvSpPr>
          <p:nvPr/>
        </p:nvSpPr>
        <p:spPr bwMode="auto">
          <a:xfrm>
            <a:off x="164150" y="1712433"/>
            <a:ext cx="7752786" cy="114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Verdana"/>
                <a:ea typeface="ＭＳ Ｐゴシック" charset="0"/>
                <a:cs typeface="Verdan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Times New Roman"/>
                <a:ea typeface="ＭＳ Ｐゴシック"/>
                <a:cs typeface="Times New Roman"/>
              </a:rPr>
              <a:t>Comparing Exploration Mechanisms for On and Off-policy RL in Sparse Reward Environments</a:t>
            </a:r>
            <a:endParaRPr lang="en-US" noProof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2"/>
          <p:cNvSpPr txBox="1">
            <a:spLocks/>
          </p:cNvSpPr>
          <p:nvPr/>
        </p:nvSpPr>
        <p:spPr bwMode="auto">
          <a:xfrm>
            <a:off x="413881" y="2713361"/>
            <a:ext cx="6605706" cy="5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>
              <a:buNone/>
            </a:pPr>
            <a:r>
              <a:rPr lang="en-US" sz="1800" noProof="0">
                <a:latin typeface="Avenir Next LT Pro" panose="020B0504020202020204" pitchFamily="34" charset="0"/>
                <a:ea typeface="ＭＳ Ｐゴシック"/>
                <a:cs typeface="Arial"/>
              </a:rPr>
              <a:t>Anthony Nasr, Mariana Chávez, Md </a:t>
            </a:r>
            <a:r>
              <a:rPr lang="en-US" sz="1800" noProof="0" err="1">
                <a:latin typeface="Avenir Next LT Pro" panose="020B0504020202020204" pitchFamily="34" charset="0"/>
                <a:ea typeface="ＭＳ Ｐゴシック"/>
                <a:cs typeface="Arial"/>
              </a:rPr>
              <a:t>Mosarraf</a:t>
            </a:r>
            <a:r>
              <a:rPr lang="en-US" sz="1800" noProof="0">
                <a:latin typeface="Avenir Next LT Pro" panose="020B0504020202020204" pitchFamily="34" charset="0"/>
                <a:ea typeface="ＭＳ Ｐゴシック"/>
                <a:cs typeface="Arial"/>
              </a:rPr>
              <a:t>, Mohammad 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5F9D315-DBB5-C688-DEEA-EB2CE87E9588}"/>
              </a:ext>
            </a:extLst>
          </p:cNvPr>
          <p:cNvSpPr/>
          <p:nvPr/>
        </p:nvSpPr>
        <p:spPr bwMode="auto">
          <a:xfrm>
            <a:off x="164557" y="6071616"/>
            <a:ext cx="1097315" cy="4023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7A096EE-6E66-3653-EAD2-B832BD28469C}"/>
              </a:ext>
            </a:extLst>
          </p:cNvPr>
          <p:cNvSpPr txBox="1">
            <a:spLocks/>
          </p:cNvSpPr>
          <p:nvPr/>
        </p:nvSpPr>
        <p:spPr bwMode="auto">
          <a:xfrm>
            <a:off x="413881" y="4409459"/>
            <a:ext cx="6605706" cy="5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>
              <a:buNone/>
            </a:pPr>
            <a:r>
              <a:rPr lang="en-US" sz="1600" noProof="0">
                <a:latin typeface="Avenir Next LT Pro" panose="020B0504020202020204" pitchFamily="34" charset="0"/>
                <a:ea typeface="ＭＳ Ｐゴシック"/>
                <a:cs typeface="Arial"/>
              </a:rPr>
              <a:t>CSI5340-F00 / ELG 5214-F00</a:t>
            </a:r>
          </a:p>
        </p:txBody>
      </p:sp>
      <p:sp>
        <p:nvSpPr>
          <p:cNvPr id="11" name="Rectángulo 6">
            <a:extLst>
              <a:ext uri="{FF2B5EF4-FFF2-40B4-BE49-F238E27FC236}">
                <a16:creationId xmlns:a16="http://schemas.microsoft.com/office/drawing/2014/main" id="{FEA7DA0A-1EE6-CECE-9BAF-B4752AAA81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6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43"/>
    </mc:Choice>
    <mc:Fallback xmlns="">
      <p:transition spd="slow" advTm="1304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C57A7-E910-E049-C172-2FEB658DE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9EEB80C6-1EA5-F1D7-FC36-F4F3177C20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0E8792-486D-1068-CEAB-C3B6F9E0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39" y="473944"/>
            <a:ext cx="8529522" cy="864096"/>
          </a:xfrm>
        </p:spPr>
        <p:txBody>
          <a:bodyPr/>
          <a:lstStyle/>
          <a:p>
            <a:r>
              <a:rPr lang="en-US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0159611-8544-BED3-38A8-3F775CE69358}"/>
              </a:ext>
            </a:extLst>
          </p:cNvPr>
          <p:cNvSpPr/>
          <p:nvPr/>
        </p:nvSpPr>
        <p:spPr bwMode="auto">
          <a:xfrm>
            <a:off x="851164" y="5595713"/>
            <a:ext cx="7452360" cy="577470"/>
          </a:xfrm>
          <a:prstGeom prst="roundRect">
            <a:avLst>
              <a:gd name="adj" fmla="val 31798"/>
            </a:avLst>
          </a:prstGeom>
          <a:solidFill>
            <a:srgbClr val="F39FA7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>
                <a:ln w="0"/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"/>
                <a:ea typeface="ＭＳ Ｐゴシック"/>
              </a:rPr>
              <a:t>Should we use Entropy Regularization, RND, or ICM? </a:t>
            </a:r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39093DDD-7B0D-0003-92E0-81A74D7FD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906" y="1377609"/>
            <a:ext cx="8609078" cy="1528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buFont typeface="Arial"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In sparse-reward environments </a:t>
            </a:r>
            <a:r>
              <a:rPr lang="en-US" sz="1600">
                <a:latin typeface="Times"/>
                <a:ea typeface="ＭＳ Ｐゴシック"/>
                <a:cs typeface="Times"/>
              </a:rPr>
              <a:t>→</a:t>
            </a:r>
            <a:r>
              <a:rPr lang="en-US" sz="1600" b="1">
                <a:latin typeface="Avenir Next LT Pro"/>
                <a:ea typeface="ＭＳ Ｐゴシック"/>
              </a:rPr>
              <a:t> long time before any useful learning signal.</a:t>
            </a:r>
            <a:endParaRPr lang="en-US" sz="1600" b="1" noProof="0">
              <a:latin typeface="Avenir Next LT Pro" panose="020B0504020202020204" pitchFamily="34" charset="0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This makes policy optimization </a:t>
            </a:r>
            <a:r>
              <a:rPr lang="en-US" sz="1600" b="1">
                <a:latin typeface="Avenir Next LT Pro"/>
                <a:ea typeface="ＭＳ Ｐゴシック"/>
              </a:rPr>
              <a:t>slower</a:t>
            </a:r>
            <a:r>
              <a:rPr lang="en-US" sz="1600">
                <a:latin typeface="Avenir Next LT Pro"/>
                <a:ea typeface="ＭＳ Ｐゴシック"/>
              </a:rPr>
              <a:t>, </a:t>
            </a:r>
            <a:r>
              <a:rPr lang="en-US" sz="1600" b="1">
                <a:latin typeface="Avenir Next LT Pro"/>
                <a:ea typeface="ＭＳ Ｐゴシック"/>
              </a:rPr>
              <a:t>noisier</a:t>
            </a:r>
            <a:r>
              <a:rPr lang="en-US" sz="1600">
                <a:latin typeface="Avenir Next LT Pro"/>
                <a:ea typeface="ＭＳ Ｐゴシック"/>
              </a:rPr>
              <a:t>, and </a:t>
            </a:r>
            <a:r>
              <a:rPr lang="en-US" sz="1600" b="1">
                <a:latin typeface="Avenir Next LT Pro"/>
                <a:ea typeface="ＭＳ Ｐゴシック"/>
              </a:rPr>
              <a:t>more unstable</a:t>
            </a:r>
            <a:r>
              <a:rPr lang="en-US" sz="1600">
                <a:latin typeface="Avenir Next LT Pro"/>
                <a:ea typeface="ＭＳ Ｐゴシック"/>
              </a:rPr>
              <a:t>.</a:t>
            </a:r>
            <a:endParaRPr lang="en-US" sz="1600" b="1">
              <a:latin typeface="Avenir Next LT Pro"/>
              <a:ea typeface="ＭＳ Ｐゴシック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Exploration matters, but we aim to find </a:t>
            </a:r>
            <a:r>
              <a:rPr lang="en-US" sz="1600" b="1">
                <a:latin typeface="Avenir Next LT Pro"/>
                <a:ea typeface="ＭＳ Ｐゴシック"/>
              </a:rPr>
              <a:t>which exploration mechanism is most effective</a:t>
            </a:r>
            <a:r>
              <a:rPr lang="en-US" sz="1600">
                <a:latin typeface="Avenir Next LT Pro"/>
                <a:ea typeface="ＭＳ Ｐゴシック"/>
              </a:rPr>
              <a:t> under matched compute.</a:t>
            </a:r>
            <a:endParaRPr lang="en-US" sz="1600" noProof="0">
              <a:latin typeface="Avenir Next LT Pro"/>
              <a:ea typeface="ＭＳ Ｐゴシック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94B97A-F98F-52C8-2B97-9AA80D60A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709" y="3297868"/>
            <a:ext cx="6526582" cy="191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740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BF2A-B1C1-BE93-3F72-86608758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2272-2A6C-8157-53A6-6FA00F4E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39" y="473944"/>
            <a:ext cx="8529522" cy="864096"/>
          </a:xfrm>
        </p:spPr>
        <p:txBody>
          <a:bodyPr/>
          <a:lstStyle/>
          <a:p>
            <a:r>
              <a:rPr lang="en-US" noProof="0">
                <a:latin typeface="Times New Roman"/>
                <a:ea typeface="ＭＳ Ｐゴシック"/>
                <a:cs typeface="Times New Roman"/>
              </a:rPr>
              <a:t>Background</a:t>
            </a:r>
            <a:r>
              <a:rPr lang="en-US" sz="2000">
                <a:latin typeface="Times New Roman"/>
                <a:ea typeface="ＭＳ Ｐゴシック"/>
                <a:cs typeface="Times New Roman"/>
              </a:rPr>
              <a:t>: Baselines &amp; Curiosity</a:t>
            </a:r>
            <a:endParaRPr lang="en-US" sz="2000" noProof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31" name="Marcador de contenido 4">
            <a:extLst>
              <a:ext uri="{FF2B5EF4-FFF2-40B4-BE49-F238E27FC236}">
                <a16:creationId xmlns:a16="http://schemas.microsoft.com/office/drawing/2014/main" id="{AAE14831-4A64-3FFB-DEC0-28621ABB4944}"/>
              </a:ext>
            </a:extLst>
          </p:cNvPr>
          <p:cNvSpPr txBox="1">
            <a:spLocks/>
          </p:cNvSpPr>
          <p:nvPr/>
        </p:nvSpPr>
        <p:spPr bwMode="auto">
          <a:xfrm>
            <a:off x="-282764" y="1460781"/>
            <a:ext cx="3400428" cy="6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 algn="ctr">
              <a:buNone/>
            </a:pPr>
            <a:r>
              <a:rPr lang="en-US" sz="1800" b="1" kern="0">
                <a:latin typeface="Times New Roman"/>
                <a:ea typeface="ＭＳ Ｐゴシック"/>
                <a:cs typeface="Times New Roman"/>
              </a:rPr>
              <a:t>Established baselines</a:t>
            </a:r>
            <a:endParaRPr lang="en-US" sz="1800" b="1" kern="0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Marcador de contenido 4">
            <a:extLst>
              <a:ext uri="{FF2B5EF4-FFF2-40B4-BE49-F238E27FC236}">
                <a16:creationId xmlns:a16="http://schemas.microsoft.com/office/drawing/2014/main" id="{F5AC3252-DE6D-4194-44B7-D1381110D6C5}"/>
              </a:ext>
            </a:extLst>
          </p:cNvPr>
          <p:cNvSpPr txBox="1">
            <a:spLocks/>
          </p:cNvSpPr>
          <p:nvPr/>
        </p:nvSpPr>
        <p:spPr bwMode="auto">
          <a:xfrm>
            <a:off x="307239" y="2151131"/>
            <a:ext cx="2525572" cy="921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</a:pPr>
            <a:endParaRPr lang="en-US" sz="1600" kern="0" noProof="0">
              <a:latin typeface="Avenir Next LT Pro" panose="020B0504020202020204" pitchFamily="34" charset="0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3AD529F9-A801-1207-F364-1031B6D88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22" y="1764518"/>
            <a:ext cx="3596430" cy="115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buFont typeface="Arial"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DQN </a:t>
            </a:r>
            <a:r>
              <a:rPr lang="en-US" sz="1600">
                <a:latin typeface="Times"/>
                <a:ea typeface="ＭＳ Ｐゴシック"/>
                <a:cs typeface="Times"/>
              </a:rPr>
              <a:t>→</a:t>
            </a:r>
            <a:r>
              <a:rPr lang="en-US" sz="1600">
                <a:latin typeface="Avenir Next LT Pro"/>
                <a:ea typeface="ＭＳ Ｐゴシック"/>
              </a:rPr>
              <a:t> Off-policy baseline</a:t>
            </a:r>
            <a:endParaRPr lang="en-US"/>
          </a:p>
          <a:p>
            <a:pPr eaLnBrk="0" hangingPunct="0">
              <a:lnSpc>
                <a:spcPct val="150000"/>
              </a:lnSpc>
              <a:buFont typeface="Arial"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PPO  </a:t>
            </a:r>
            <a:r>
              <a:rPr lang="en-US" sz="1600">
                <a:latin typeface="Times"/>
                <a:ea typeface="ＭＳ Ｐゴシック"/>
                <a:cs typeface="Times"/>
              </a:rPr>
              <a:t>→</a:t>
            </a:r>
            <a:r>
              <a:rPr lang="en-US" sz="1600">
                <a:latin typeface="Avenir Next LT Pro"/>
                <a:ea typeface="ＭＳ Ｐゴシック"/>
              </a:rPr>
              <a:t> On-policy </a:t>
            </a:r>
          </a:p>
          <a:p>
            <a:pPr>
              <a:lnSpc>
                <a:spcPct val="150000"/>
              </a:lnSpc>
              <a:buFontTx/>
              <a:buChar char="•"/>
            </a:pPr>
            <a:endParaRPr lang="en-US" sz="1600">
              <a:latin typeface="Avenir Next LT Pro" panose="020B0504020202020204" pitchFamily="34" charset="0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3B0EE1A-1D82-D371-DAB1-D68BD59DC32B}"/>
              </a:ext>
            </a:extLst>
          </p:cNvPr>
          <p:cNvSpPr txBox="1">
            <a:spLocks/>
          </p:cNvSpPr>
          <p:nvPr/>
        </p:nvSpPr>
        <p:spPr bwMode="auto">
          <a:xfrm>
            <a:off x="-928" y="2828206"/>
            <a:ext cx="3400428" cy="6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 algn="ctr">
              <a:buNone/>
            </a:pPr>
            <a:r>
              <a:rPr lang="en-US" sz="1800" b="1" kern="0">
                <a:latin typeface="Times New Roman"/>
                <a:ea typeface="ＭＳ Ｐゴシック"/>
                <a:cs typeface="Times New Roman"/>
              </a:rPr>
              <a:t>Intrinsic Reward Methods</a:t>
            </a:r>
            <a:endParaRPr lang="en-US" sz="1800" b="1" kern="0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E2F8EE7-9404-1674-9E6F-36A60DA79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51" y="3126723"/>
            <a:ext cx="4849031" cy="115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RND rewards novelty through prediction error</a:t>
            </a:r>
            <a:endParaRPr lang="en-US"/>
          </a:p>
          <a:p>
            <a:pPr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ICM  uses a learned dynamics model</a:t>
            </a:r>
            <a:endParaRPr lang="en-US"/>
          </a:p>
          <a:p>
            <a:pPr>
              <a:lnSpc>
                <a:spcPct val="150000"/>
              </a:lnSpc>
              <a:buFontTx/>
              <a:buChar char="•"/>
            </a:pPr>
            <a:endParaRPr lang="en-US" sz="1600">
              <a:latin typeface="Avenir Next LT Pro" panose="020B0504020202020204" pitchFamily="34" charset="0"/>
            </a:endParaRPr>
          </a:p>
        </p:txBody>
      </p:sp>
      <p:sp>
        <p:nvSpPr>
          <p:cNvPr id="7" name="Marcador de contenido 4">
            <a:extLst>
              <a:ext uri="{FF2B5EF4-FFF2-40B4-BE49-F238E27FC236}">
                <a16:creationId xmlns:a16="http://schemas.microsoft.com/office/drawing/2014/main" id="{C31489C1-A6B2-BB8C-C891-59451C235C91}"/>
              </a:ext>
            </a:extLst>
          </p:cNvPr>
          <p:cNvSpPr txBox="1">
            <a:spLocks/>
          </p:cNvSpPr>
          <p:nvPr/>
        </p:nvSpPr>
        <p:spPr bwMode="auto">
          <a:xfrm>
            <a:off x="-126188" y="4289575"/>
            <a:ext cx="3400428" cy="6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 algn="ctr">
              <a:buNone/>
            </a:pPr>
            <a:r>
              <a:rPr lang="en-US" sz="1800" b="1" kern="0">
                <a:latin typeface="Times New Roman"/>
                <a:ea typeface="ＭＳ Ｐゴシック"/>
                <a:cs typeface="Times New Roman"/>
              </a:rPr>
              <a:t>Entropy Regularization</a:t>
            </a:r>
            <a:endParaRPr lang="en-US" sz="1800" b="1" kern="0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CA498FB-BD6E-5115-2E53-3854E0853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50" y="4795247"/>
            <a:ext cx="4849031" cy="974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/>
          </a:p>
          <a:p>
            <a:pPr>
              <a:lnSpc>
                <a:spcPct val="150000"/>
              </a:lnSpc>
              <a:buFontTx/>
              <a:buChar char="•"/>
            </a:pPr>
            <a:endParaRPr lang="en-US" sz="1600">
              <a:latin typeface="Avenir Next LT Pro" panose="020B05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345D681-A77C-DA85-EC16-BD7FA604E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51" y="4708133"/>
            <a:ext cx="4013964" cy="115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Increase stochasticity directly through the entropy term.</a:t>
            </a:r>
          </a:p>
          <a:p>
            <a:pPr>
              <a:lnSpc>
                <a:spcPct val="150000"/>
              </a:lnSpc>
              <a:buFontTx/>
              <a:buChar char="•"/>
            </a:pPr>
            <a:endParaRPr lang="en-US" sz="1600">
              <a:latin typeface="Avenir Next LT Pro" panose="020B0504020202020204" pitchFamily="34" charset="0"/>
            </a:endParaRPr>
          </a:p>
        </p:txBody>
      </p:sp>
      <p:pic>
        <p:nvPicPr>
          <p:cNvPr id="11" name="Picture 10" descr="A cartoon of a robot holding a magnifying glass&#10;&#10;AI-generated content may be incorrect.">
            <a:extLst>
              <a:ext uri="{FF2B5EF4-FFF2-40B4-BE49-F238E27FC236}">
                <a16:creationId xmlns:a16="http://schemas.microsoft.com/office/drawing/2014/main" id="{B330F8E4-A721-D5B2-C0D5-F69727B1F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0877" y="1216068"/>
            <a:ext cx="5709781" cy="3830877"/>
          </a:xfrm>
          <a:prstGeom prst="rect">
            <a:avLst/>
          </a:prstGeom>
        </p:spPr>
      </p:pic>
      <p:sp>
        <p:nvSpPr>
          <p:cNvPr id="4" name="Rectángulo 6">
            <a:extLst>
              <a:ext uri="{FF2B5EF4-FFF2-40B4-BE49-F238E27FC236}">
                <a16:creationId xmlns:a16="http://schemas.microsoft.com/office/drawing/2014/main" id="{C5FAB936-D437-A486-ED59-87F055E3A6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501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A30AF-787E-B9DE-72D4-D8DA956F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4AB1EE1-57E8-B469-B5DA-52E0F2CA9E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06468-325F-4D44-6715-5854441AD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39" y="601224"/>
            <a:ext cx="8529522" cy="864096"/>
          </a:xfrm>
        </p:spPr>
        <p:txBody>
          <a:bodyPr/>
          <a:lstStyle/>
          <a:p>
            <a:r>
              <a:rPr lang="en-US">
                <a:latin typeface="Times New Roman"/>
                <a:ea typeface="ＭＳ Ｐゴシック"/>
                <a:cs typeface="Times New Roman"/>
              </a:rPr>
              <a:t>So, What is missing?</a:t>
            </a:r>
            <a:endParaRPr lang="en-US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97E16F6-3DFC-39BE-63A9-D403683BA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250" y="2326198"/>
            <a:ext cx="7843165" cy="358530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>
                <a:latin typeface="Avenir Next LT Pro"/>
                <a:ea typeface="ＭＳ Ｐゴシック"/>
              </a:rPr>
              <a:t>Prior studies </a:t>
            </a:r>
            <a:r>
              <a:rPr lang="en-US" sz="2400" b="1">
                <a:latin typeface="Avenir Next LT Pro"/>
                <a:ea typeface="ＭＳ Ｐゴシック"/>
              </a:rPr>
              <a:t>do not clearly show</a:t>
            </a:r>
            <a:r>
              <a:rPr lang="en-US" sz="2400">
                <a:latin typeface="Avenir Next LT Pro"/>
                <a:ea typeface="ＭＳ Ｐゴシック"/>
              </a:rPr>
              <a:t> which exploration method works best when algorithm family, reward density, and compute budget are all controlled together.</a:t>
            </a:r>
            <a:endParaRPr lang="en-US" sz="2400">
              <a:latin typeface="Avenir Next LT Pro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72DA3BD-385E-154E-FF4F-B89324B29CB1}"/>
              </a:ext>
            </a:extLst>
          </p:cNvPr>
          <p:cNvSpPr/>
          <p:nvPr/>
        </p:nvSpPr>
        <p:spPr bwMode="auto">
          <a:xfrm>
            <a:off x="673239" y="1914313"/>
            <a:ext cx="7651900" cy="3187791"/>
          </a:xfrm>
          <a:prstGeom prst="roundRect">
            <a:avLst/>
          </a:prstGeom>
          <a:noFill/>
          <a:ln w="76200" cap="flat" cmpd="sng" algn="ctr">
            <a:solidFill>
              <a:srgbClr val="A2152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314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99D02-5470-80DF-A20D-CBFAA4C7E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0111903-0864-9473-075C-D0AC6CF423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2AA6E-8AA9-475B-FE50-DED833D9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39" y="601224"/>
            <a:ext cx="8529522" cy="864096"/>
          </a:xfrm>
        </p:spPr>
        <p:txBody>
          <a:bodyPr/>
          <a:lstStyle/>
          <a:p>
            <a:r>
              <a:rPr lang="en-US">
                <a:latin typeface="Times New Roman"/>
                <a:ea typeface="ＭＳ Ｐゴシック"/>
                <a:cs typeface="Times New Roman"/>
              </a:rPr>
              <a:t>Research Questions</a:t>
            </a:r>
            <a:endParaRPr lang="en-US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F2BAF3-C70E-501F-1F7E-5D8463E1F404}"/>
              </a:ext>
            </a:extLst>
          </p:cNvPr>
          <p:cNvSpPr txBox="1"/>
          <p:nvPr/>
        </p:nvSpPr>
        <p:spPr>
          <a:xfrm>
            <a:off x="302712" y="1884123"/>
            <a:ext cx="8716027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latin typeface="Times New Roman"/>
                <a:ea typeface="ＭＳ Ｐゴシック"/>
              </a:rPr>
              <a:t>Primary</a:t>
            </a:r>
            <a:endParaRPr lang="en-US" b="1">
              <a:latin typeface="Times New Roman"/>
              <a:ea typeface="ＭＳ Ｐゴシック"/>
            </a:endParaRPr>
          </a:p>
          <a:p>
            <a:endParaRPr lang="en-US" sz="1800" b="1">
              <a:latin typeface="Times New Roman"/>
              <a:ea typeface="ＭＳ Ｐゴシック"/>
            </a:endParaRPr>
          </a:p>
          <a:p>
            <a:r>
              <a:rPr lang="en-US" sz="1800">
                <a:latin typeface="Avenir Next LT Pro"/>
                <a:ea typeface="ＭＳ Ｐゴシック"/>
              </a:rPr>
              <a:t>Under sparse rewards and matched compute, do RND or ICM improve sample efficiency more for PPO than for DQN, or can entropy regularization alone close most of the gap?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94866C-521D-27F9-78D0-A9788721EC34}"/>
              </a:ext>
            </a:extLst>
          </p:cNvPr>
          <p:cNvSpPr txBox="1"/>
          <p:nvPr/>
        </p:nvSpPr>
        <p:spPr>
          <a:xfrm>
            <a:off x="302712" y="3825656"/>
            <a:ext cx="8716027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latin typeface="Times New Roman"/>
                <a:ea typeface="ＭＳ Ｐゴシック"/>
              </a:rPr>
              <a:t>Secondary</a:t>
            </a:r>
            <a:endParaRPr lang="en-US" b="1">
              <a:latin typeface="Times New Roman"/>
              <a:ea typeface="ＭＳ Ｐゴシック"/>
            </a:endParaRPr>
          </a:p>
          <a:p>
            <a:endParaRPr lang="en-US" sz="1800" b="1">
              <a:latin typeface="Times New Roman"/>
              <a:ea typeface="ＭＳ Ｐゴシック"/>
            </a:endParaRPr>
          </a:p>
          <a:p>
            <a:r>
              <a:rPr lang="en-US" sz="1800">
                <a:latin typeface="Avenir Next LT Pro"/>
                <a:ea typeface="ＭＳ Ｐゴシック"/>
              </a:rPr>
              <a:t>Does ICM produce different gains than RND and does that difference change with algorithm family and reward density?</a:t>
            </a:r>
          </a:p>
          <a:p>
            <a:pPr algn="ctr"/>
            <a:endParaRPr lang="en-US"/>
          </a:p>
        </p:txBody>
      </p:sp>
      <p:pic>
        <p:nvPicPr>
          <p:cNvPr id="3" name="Picture 2" descr="A black and white image of a magnifying glass&#10;&#10;AI-generated content may be incorrect.">
            <a:extLst>
              <a:ext uri="{FF2B5EF4-FFF2-40B4-BE49-F238E27FC236}">
                <a16:creationId xmlns:a16="http://schemas.microsoft.com/office/drawing/2014/main" id="{17AE4B3D-E03A-B980-8182-0BFA934D1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881" y="457840"/>
            <a:ext cx="2583758" cy="1629657"/>
          </a:xfrm>
          <a:prstGeom prst="rect">
            <a:avLst/>
          </a:prstGeom>
        </p:spPr>
      </p:pic>
      <p:pic>
        <p:nvPicPr>
          <p:cNvPr id="4" name="Picture 3" descr="A white question mark on a black background&#10;&#10;AI-generated content may be incorrect.">
            <a:extLst>
              <a:ext uri="{FF2B5EF4-FFF2-40B4-BE49-F238E27FC236}">
                <a16:creationId xmlns:a16="http://schemas.microsoft.com/office/drawing/2014/main" id="{4F73827E-17F4-65F8-87C1-9BBEE56D6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100000">
            <a:off x="4927387" y="284949"/>
            <a:ext cx="2650992" cy="182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29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8262" y="58604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Methodology</a:t>
            </a:r>
            <a:endParaRPr lang="en-US" sz="2000" b="1" noProof="0">
              <a:solidFill>
                <a:srgbClr val="990000"/>
              </a:solidFill>
              <a:latin typeface="Times New Roman"/>
              <a:ea typeface="ＭＳ Ｐゴシック"/>
              <a:cs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4322A9-10A6-C9A4-6EC5-D43A35BE6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844766"/>
              </p:ext>
            </p:extLst>
          </p:nvPr>
        </p:nvGraphicFramePr>
        <p:xfrm>
          <a:off x="238876" y="1153001"/>
          <a:ext cx="8666247" cy="460768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67616">
                  <a:extLst>
                    <a:ext uri="{9D8B030D-6E8A-4147-A177-3AD203B41FA5}">
                      <a16:colId xmlns:a16="http://schemas.microsoft.com/office/drawing/2014/main" val="1344197781"/>
                    </a:ext>
                  </a:extLst>
                </a:gridCol>
                <a:gridCol w="4198631">
                  <a:extLst>
                    <a:ext uri="{9D8B030D-6E8A-4147-A177-3AD203B41FA5}">
                      <a16:colId xmlns:a16="http://schemas.microsoft.com/office/drawing/2014/main" val="1419357255"/>
                    </a:ext>
                  </a:extLst>
                </a:gridCol>
              </a:tblGrid>
              <a:tr h="357969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Environments</a:t>
                      </a:r>
                    </a:p>
                  </a:txBody>
                  <a:tcPr>
                    <a:solidFill>
                      <a:srgbClr val="A215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Agents</a:t>
                      </a:r>
                    </a:p>
                  </a:txBody>
                  <a:tcPr>
                    <a:solidFill>
                      <a:srgbClr val="A2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361071"/>
                  </a:ext>
                </a:extLst>
              </a:tr>
              <a:tr h="1155734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="0"/>
                        <a:t>Gymnax Cartpole-v1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b="0"/>
                        <a:t>Gymnax MountainCar-v0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b="0"/>
                        <a:t>Dense &amp; Sparse variants</a:t>
                      </a:r>
                      <a:endParaRPr lang="en-US"/>
                    </a:p>
                  </a:txBody>
                  <a:tcPr>
                    <a:solidFill>
                      <a:srgbClr val="F39FA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/>
                        <a:t>PPO 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/>
                        <a:t>MLP: 2 x 64 </a:t>
                      </a:r>
                      <a:r>
                        <a:rPr lang="en-US" err="1"/>
                        <a:t>ReLU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DQN 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MLP: 2 x 64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ReLU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/>
                    </a:p>
                  </a:txBody>
                  <a:tcPr>
                    <a:solidFill>
                      <a:srgbClr val="F3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116312"/>
                  </a:ext>
                </a:extLst>
              </a:tr>
              <a:tr h="357969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Exploration</a:t>
                      </a:r>
                    </a:p>
                  </a:txBody>
                  <a:tcPr>
                    <a:solidFill>
                      <a:srgbClr val="A215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Evaluation</a:t>
                      </a:r>
                    </a:p>
                  </a:txBody>
                  <a:tcPr>
                    <a:solidFill>
                      <a:srgbClr val="A2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479235"/>
                  </a:ext>
                </a:extLst>
              </a:tr>
              <a:tr h="1165953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/>
                        <a:t>Entropy Regularization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RND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ICM</a:t>
                      </a:r>
                      <a:endParaRPr lang="en-US" sz="1800" b="0" i="0" u="none" strike="noStrike" noProof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39FA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/>
                        <a:t>10 seeds / configuration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1000 episodes / configuration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Greedy rollouts per 50 episodes</a:t>
                      </a:r>
                    </a:p>
                  </a:txBody>
                  <a:tcPr>
                    <a:solidFill>
                      <a:srgbClr val="F3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698470"/>
                  </a:ext>
                </a:extLst>
              </a:tr>
              <a:tr h="357969">
                <a:tc gridSpan="2"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bg1"/>
                          </a:solidFill>
                        </a:rPr>
                        <a:t>Hyperparameters</a:t>
                      </a:r>
                      <a:endParaRPr 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A215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599858"/>
                  </a:ext>
                </a:extLst>
              </a:tr>
              <a:tr h="1165953"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1" u="none" strike="noStrike" noProof="0"/>
                        <a:t>LR</a:t>
                      </a:r>
                      <a:r>
                        <a:rPr lang="en-US" sz="1800" b="0" i="0" u="none" strike="noStrike" noProof="0"/>
                        <a:t> 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∈ {0.1, 0.01, 0.001}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Discount factor 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lang="en-US" sz="1800" b="0" i="1" u="none" strike="noStrike" noProof="0">
                          <a:latin typeface="Arial"/>
                          <a:cs typeface="Arial"/>
                        </a:rPr>
                        <a:t> Γ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∈ {0.9, 0.99}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Eta  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 </a:t>
                      </a:r>
                      <a:r>
                        <a:rPr lang="en-US" sz="1800" b="0" i="1" u="none" strike="noStrike" noProof="0">
                          <a:solidFill>
                            <a:srgbClr val="000000"/>
                          </a:solidFill>
                        </a:rPr>
                        <a:t>η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∈ {0.1, 1.0}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1800" b="0" i="0" u="none" strike="noStrike" noProof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39FA7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Entropy </a:t>
                      </a:r>
                      <a:r>
                        <a:rPr lang="en-US" sz="1800" b="0" i="0" u="none" strike="noStrike" noProof="0" err="1">
                          <a:latin typeface="Arial"/>
                          <a:cs typeface="Arial"/>
                        </a:rPr>
                        <a:t>coeff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.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 sz="1800" b="0" i="1" u="none" strike="noStrike" noProof="0"/>
                        <a:t>α</a:t>
                      </a:r>
                      <a:r>
                        <a:rPr lang="en-US" sz="1800" b="0" i="0" u="none" strike="noStrike" noProof="0"/>
                        <a:t>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∈ {0.01, 0.05}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Reward scale  → </a:t>
                      </a:r>
                      <a:r>
                        <a:rPr lang="en-US" sz="1800" b="0" i="1" u="none" strike="noStrike" noProof="0">
                          <a:solidFill>
                            <a:srgbClr val="000000"/>
                          </a:solidFill>
                        </a:rPr>
                        <a:t>β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 ∈ {0.1, 1.0}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1800" b="0" i="0" u="none" strike="noStrike" noProof="0"/>
                    </a:p>
                  </a:txBody>
                  <a:tcPr>
                    <a:solidFill>
                      <a:srgbClr val="F3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410382"/>
                  </a:ext>
                </a:extLst>
              </a:tr>
            </a:tbl>
          </a:graphicData>
        </a:graphic>
      </p:graphicFrame>
      <p:sp>
        <p:nvSpPr>
          <p:cNvPr id="6" name="Rectángulo 6">
            <a:extLst>
              <a:ext uri="{FF2B5EF4-FFF2-40B4-BE49-F238E27FC236}">
                <a16:creationId xmlns:a16="http://schemas.microsoft.com/office/drawing/2014/main" id="{1A1BCB8C-642B-B9EB-C39F-E72CFB5C73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CBA18-58E0-DCEB-6BE3-2649AD06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867D146-A36B-68C8-F5B4-1C5DBA41C052}"/>
              </a:ext>
            </a:extLst>
          </p:cNvPr>
          <p:cNvSpPr/>
          <p:nvPr/>
        </p:nvSpPr>
        <p:spPr>
          <a:xfrm>
            <a:off x="261112" y="508318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Results 1: Vanilla DQN vs DQN + ICM on CartPole-v1</a:t>
            </a:r>
            <a:endParaRPr lang="en-US" sz="2800" b="1" noProof="0">
              <a:solidFill>
                <a:srgbClr val="8F0024"/>
              </a:solidFill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92466EDE-A7D0-6551-9360-6BA3A0F8C9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pic>
        <p:nvPicPr>
          <p:cNvPr id="7" name="Picture 6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DE46267D-9887-E767-98EE-395993C21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723" y="3742907"/>
            <a:ext cx="7309437" cy="2609085"/>
          </a:xfrm>
          <a:prstGeom prst="rect">
            <a:avLst/>
          </a:prstGeom>
        </p:spPr>
      </p:pic>
      <p:pic>
        <p:nvPicPr>
          <p:cNvPr id="17" name="Picture 16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63E101D3-BA4B-0B5B-F866-4F65C3286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7723" y="1084936"/>
            <a:ext cx="7309437" cy="2661464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1BA03223-622F-5F0F-51FD-4C2FB91FD8B6}"/>
              </a:ext>
            </a:extLst>
          </p:cNvPr>
          <p:cNvSpPr/>
          <p:nvPr/>
        </p:nvSpPr>
        <p:spPr>
          <a:xfrm>
            <a:off x="78616" y="3322595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>
                <a:latin typeface="Times New Roman"/>
                <a:ea typeface="ＭＳ Ｐゴシック"/>
                <a:cs typeface="Times New Roman"/>
              </a:rPr>
              <a:t>Lr = 0.001</a:t>
            </a:r>
            <a:endParaRPr lang="en-US" sz="2800" noProof="0">
              <a:latin typeface="Times New Roman"/>
              <a:ea typeface="ＭＳ Ｐゴシック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403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D2F7A-67A7-C47B-52CF-E1E8E06F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0410166-4424-1634-4E76-7984CF6E3EF2}"/>
              </a:ext>
            </a:extLst>
          </p:cNvPr>
          <p:cNvSpPr/>
          <p:nvPr/>
        </p:nvSpPr>
        <p:spPr>
          <a:xfrm>
            <a:off x="261112" y="508318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Results 1: Vanilla DQN vs DQN + ICM on CartPole-v1</a:t>
            </a:r>
            <a:endParaRPr lang="en-US" sz="2800" b="1" noProof="0">
              <a:solidFill>
                <a:srgbClr val="8F0024"/>
              </a:solidFill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EFAE82EE-0F54-F683-EF13-C44DFB4381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4DFF3D5D-7073-9870-2BBD-3BCCB5F14CEA}"/>
              </a:ext>
            </a:extLst>
          </p:cNvPr>
          <p:cNvSpPr/>
          <p:nvPr/>
        </p:nvSpPr>
        <p:spPr>
          <a:xfrm>
            <a:off x="3776557" y="1334350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>
                <a:latin typeface="Times New Roman"/>
                <a:ea typeface="ＭＳ Ｐゴシック"/>
                <a:cs typeface="Times New Roman"/>
              </a:rPr>
              <a:t>Lr = 0.01</a:t>
            </a:r>
            <a:endParaRPr lang="en-US" sz="2800" noProof="0">
              <a:latin typeface="Times New Roman"/>
              <a:ea typeface="ＭＳ Ｐゴシック"/>
              <a:cs typeface="Times New Roman"/>
            </a:endParaRPr>
          </a:p>
        </p:txBody>
      </p:sp>
      <p:pic>
        <p:nvPicPr>
          <p:cNvPr id="6" name="Picture 5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15176030-5D96-869B-5D94-7BC168DE7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12486"/>
            <a:ext cx="9144000" cy="337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7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6079A7-083D-9310-5F58-F9BFCFC9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C67805B-60CE-2348-49E8-8A2F0A6403A6}"/>
              </a:ext>
            </a:extLst>
          </p:cNvPr>
          <p:cNvSpPr/>
          <p:nvPr/>
        </p:nvSpPr>
        <p:spPr>
          <a:xfrm>
            <a:off x="261112" y="508318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Results 2: Other results...</a:t>
            </a:r>
            <a:endParaRPr lang="en-US" sz="2800" b="1" noProof="0">
              <a:solidFill>
                <a:srgbClr val="8F0024"/>
              </a:solidFill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54228986-FE63-1D85-6052-A1A0C8779C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551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8EA69-DFAA-04AD-97AC-AC199CB3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6">
            <a:extLst>
              <a:ext uri="{FF2B5EF4-FFF2-40B4-BE49-F238E27FC236}">
                <a16:creationId xmlns:a16="http://schemas.microsoft.com/office/drawing/2014/main" id="{2D7FC3A5-9397-838F-A846-A66F77F82E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B462518A-0F8D-1372-DB0A-D690AE669A09}"/>
              </a:ext>
            </a:extLst>
          </p:cNvPr>
          <p:cNvSpPr/>
          <p:nvPr/>
        </p:nvSpPr>
        <p:spPr>
          <a:xfrm>
            <a:off x="347472" y="83896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Analysis &amp; Insights</a:t>
            </a:r>
            <a:endParaRPr lang="en-US" sz="2800" b="1" noProof="0">
              <a:solidFill>
                <a:srgbClr val="8F00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32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984285-E1EA-F742-5BD6-0ECE23E1A9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112000" y="5795010"/>
            <a:ext cx="1950720" cy="73787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83707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 noProof="0">
                <a:solidFill>
                  <a:srgbClr val="8F00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</a:t>
            </a:r>
          </a:p>
        </p:txBody>
      </p:sp>
      <p:sp>
        <p:nvSpPr>
          <p:cNvPr id="8" name="Shape 6"/>
          <p:cNvSpPr/>
          <p:nvPr/>
        </p:nvSpPr>
        <p:spPr>
          <a:xfrm>
            <a:off x="347472" y="1580054"/>
            <a:ext cx="4160520" cy="1984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7472" y="1580054"/>
            <a:ext cx="457200" cy="1984248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" y="1580054"/>
            <a:ext cx="45720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①</a:t>
            </a:r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82312" y="1574942"/>
            <a:ext cx="4160520" cy="1984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82312" y="1574942"/>
            <a:ext cx="457200" cy="1984248"/>
          </a:xfrm>
          <a:prstGeom prst="rect">
            <a:avLst/>
          </a:prstGeom>
          <a:solidFill>
            <a:srgbClr val="B5003E"/>
          </a:solidFill>
          <a:ln w="12700">
            <a:solidFill>
              <a:srgbClr val="B5003E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82312" y="1574942"/>
            <a:ext cx="45720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②</a:t>
            </a:r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7472" y="3810762"/>
            <a:ext cx="4160520" cy="1984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7472" y="3810762"/>
            <a:ext cx="457200" cy="198424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7472" y="3810762"/>
            <a:ext cx="45720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③</a:t>
            </a:r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82312" y="3810762"/>
            <a:ext cx="4160520" cy="1984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82312" y="3810762"/>
            <a:ext cx="457200" cy="198424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82312" y="3810762"/>
            <a:ext cx="45720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④</a:t>
            </a:r>
            <a:endParaRPr lang="en-US" sz="1600" noProof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78867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Limitations &amp; Future Work</a:t>
            </a:r>
            <a:endParaRPr lang="en-US" sz="2800" b="1" noProof="0">
              <a:solidFill>
                <a:srgbClr val="8F00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E0CC3E7F-37B1-2E6F-B6DC-A6F72E65C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112000" y="5795010"/>
            <a:ext cx="1950720" cy="73787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6C230D0-FB69-6341-6836-45A716F441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112000" y="5795010"/>
            <a:ext cx="1950720" cy="73787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38160" y="1268730"/>
            <a:ext cx="256032" cy="2103120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58200" y="1268730"/>
            <a:ext cx="685800" cy="2103120"/>
          </a:xfrm>
          <a:prstGeom prst="rect">
            <a:avLst/>
          </a:prstGeom>
          <a:solidFill>
            <a:srgbClr val="B5003E"/>
          </a:solidFill>
          <a:ln w="12700">
            <a:solidFill>
              <a:srgbClr val="B5003E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7472" y="136017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 noProof="0">
                <a:solidFill>
                  <a:srgbClr val="8F00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Shape 5"/>
          <p:cNvSpPr/>
          <p:nvPr/>
        </p:nvSpPr>
        <p:spPr>
          <a:xfrm>
            <a:off x="347472" y="2000250"/>
            <a:ext cx="8412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119122"/>
            <a:ext cx="347472" cy="420624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11912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✓</a:t>
            </a:r>
            <a:endParaRPr lang="en-US" sz="1400" noProof="0">
              <a:latin typeface="Avenir Next LT Pro" panose="020B05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137410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400" noProof="0">
              <a:solidFill>
                <a:srgbClr val="1E1E1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686050"/>
            <a:ext cx="347472" cy="420624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686050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✓</a:t>
            </a:r>
            <a:endParaRPr lang="en-US" sz="1400" noProof="0">
              <a:latin typeface="Avenir Next LT Pro" panose="020B05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2704338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400" noProof="0">
              <a:solidFill>
                <a:srgbClr val="1E1E1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252978"/>
            <a:ext cx="347472" cy="420624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3252978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✓</a:t>
            </a:r>
            <a:endParaRPr lang="en-US" sz="1400" noProof="0">
              <a:latin typeface="Avenir Next LT Pro" panose="020B05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3271266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400" noProof="0">
              <a:solidFill>
                <a:srgbClr val="1E1E1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819906"/>
            <a:ext cx="347472" cy="420624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819906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✓</a:t>
            </a:r>
            <a:endParaRPr lang="en-US" sz="1400" noProof="0">
              <a:latin typeface="Avenir Next LT Pro" panose="020B05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3838194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400" noProof="0">
              <a:solidFill>
                <a:srgbClr val="1E1E1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4679442"/>
            <a:ext cx="822960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i="1" noProof="0">
              <a:solidFill>
                <a:srgbClr val="FFFFFF"/>
              </a:solidFill>
              <a:latin typeface="Avenir Next LT Pro"/>
              <a:ea typeface="ＭＳ Ｐゴシック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B37B9-7575-3822-EE02-F4A5FA87A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elogramo 2">
            <a:extLst>
              <a:ext uri="{FF2B5EF4-FFF2-40B4-BE49-F238E27FC236}">
                <a16:creationId xmlns:a16="http://schemas.microsoft.com/office/drawing/2014/main" id="{26D52B3C-D22F-BB61-D8FB-389ADF3D2506}"/>
              </a:ext>
            </a:extLst>
          </p:cNvPr>
          <p:cNvSpPr/>
          <p:nvPr/>
        </p:nvSpPr>
        <p:spPr bwMode="auto">
          <a:xfrm>
            <a:off x="1261872" y="1898149"/>
            <a:ext cx="9381744" cy="2341858"/>
          </a:xfrm>
          <a:prstGeom prst="parallelogram">
            <a:avLst/>
          </a:prstGeom>
          <a:solidFill>
            <a:srgbClr val="C8C1BC"/>
          </a:solidFill>
          <a:ln w="9525" cap="flat" cmpd="sng" algn="ctr">
            <a:solidFill>
              <a:srgbClr val="C8C1B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27088E71-92E8-C4AC-CA78-83247B6380DF}"/>
              </a:ext>
            </a:extLst>
          </p:cNvPr>
          <p:cNvSpPr/>
          <p:nvPr/>
        </p:nvSpPr>
        <p:spPr bwMode="auto">
          <a:xfrm>
            <a:off x="978665" y="1898149"/>
            <a:ext cx="804158" cy="2341858"/>
          </a:xfrm>
          <a:prstGeom prst="parallelogram">
            <a:avLst>
              <a:gd name="adj" fmla="val 73629"/>
            </a:avLst>
          </a:prstGeom>
          <a:solidFill>
            <a:srgbClr val="A21321"/>
          </a:solidFill>
          <a:ln w="9525" cap="flat" cmpd="sng" algn="ctr">
            <a:solidFill>
              <a:srgbClr val="A213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EB1E90D-5497-70D9-53C4-D96B5E95C90B}"/>
              </a:ext>
            </a:extLst>
          </p:cNvPr>
          <p:cNvSpPr txBox="1">
            <a:spLocks/>
          </p:cNvSpPr>
          <p:nvPr/>
        </p:nvSpPr>
        <p:spPr bwMode="auto">
          <a:xfrm>
            <a:off x="2218620" y="2384103"/>
            <a:ext cx="4706759" cy="1168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Verdana"/>
                <a:ea typeface="ＭＳ Ｐゴシック" charset="0"/>
                <a:cs typeface="Verdan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9pPr>
          </a:lstStyle>
          <a:p>
            <a:r>
              <a:rPr lang="en-US" sz="3600" noProof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r>
              <a:rPr lang="en-US" sz="2000" noProof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600" noProof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noProof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3600" b="0" noProof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0EF6EAB-8DE4-DF27-AED6-6D3A236A949A}"/>
              </a:ext>
            </a:extLst>
          </p:cNvPr>
          <p:cNvSpPr/>
          <p:nvPr/>
        </p:nvSpPr>
        <p:spPr bwMode="auto">
          <a:xfrm>
            <a:off x="164557" y="6071616"/>
            <a:ext cx="1097315" cy="4023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95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43"/>
    </mc:Choice>
    <mc:Fallback xmlns="">
      <p:transition spd="slow" advTm="13043"/>
    </mc:Fallback>
  </mc:AlternateContent>
</p:sld>
</file>

<file path=ppt/theme/theme1.xml><?xml version="1.0" encoding="utf-8"?>
<a:theme xmlns:a="http://schemas.openxmlformats.org/drawingml/2006/main" name="uOttawa-powerpoint-template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Garnet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110" charset="0"/>
          </a:defRPr>
        </a:defPPr>
      </a:lstStyle>
    </a:lnDef>
  </a:objectDefaults>
  <a:extraClrSchemeLst>
    <a:extraClrScheme>
      <a:clrScheme name="Garne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rne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d5b59a-24fa-4d87-8899-4e497d043fa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9411CCA2DB7C4182454697654FF24E" ma:contentTypeVersion="5" ma:contentTypeDescription="Create a new document." ma:contentTypeScope="" ma:versionID="4301c128c03ff399341958344b3b2cf2">
  <xsd:schema xmlns:xsd="http://www.w3.org/2001/XMLSchema" xmlns:xs="http://www.w3.org/2001/XMLSchema" xmlns:p="http://schemas.microsoft.com/office/2006/metadata/properties" xmlns:ns3="11d5b59a-24fa-4d87-8899-4e497d043fa6" targetNamespace="http://schemas.microsoft.com/office/2006/metadata/properties" ma:root="true" ma:fieldsID="f485690420d23c34ed59c8c282873633" ns3:_="">
    <xsd:import namespace="11d5b59a-24fa-4d87-8899-4e497d043fa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d5b59a-24fa-4d87-8899-4e497d043fa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B12752-8014-41EC-93E6-EDD0968031AE}">
  <ds:schemaRefs>
    <ds:schemaRef ds:uri="11d5b59a-24fa-4d87-8899-4e497d043f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72A4E53-FF6C-4445-BB65-945FFFFC39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B193E7-90BF-467F-A8EA-B46BB2BE0854}">
  <ds:schemaRefs>
    <ds:schemaRef ds:uri="11d5b59a-24fa-4d87-8899-4e497d043f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Newt_Presentation</Template>
  <Application>Microsoft Office PowerPoint</Application>
  <PresentationFormat>On-screen Show (4:3)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uOttawa-powerpoint-template</vt:lpstr>
      <vt:lpstr>PowerPoint Presentation</vt:lpstr>
      <vt:lpstr>Motivation</vt:lpstr>
      <vt:lpstr>Background: Baselines &amp; Curiosity</vt:lpstr>
      <vt:lpstr>So, What is missing?</vt:lpstr>
      <vt:lpstr>Research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Mariana Chavez Flores</dc:creator>
  <cp:keywords/>
  <dc:description/>
  <cp:revision>6</cp:revision>
  <cp:lastPrinted>2013-05-07T16:03:29Z</cp:lastPrinted>
  <dcterms:created xsi:type="dcterms:W3CDTF">2026-03-31T15:32:59Z</dcterms:created>
  <dcterms:modified xsi:type="dcterms:W3CDTF">2026-04-01T23:24:16Z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0x010100BD9411CCA2DB7C4182454697654FF24E</vt:lpwstr>
  </property>
</Properties>
</file>